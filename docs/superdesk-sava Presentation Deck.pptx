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1083171"/>
            <a:ext cx="1028700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275" y="1607046"/>
            <a:ext cx="108013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superdesk-sava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75" y="2399407"/>
            <a:ext cx="857250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b="0" sz="2100" i="0" u="none">
                <a:solidFill>
                  <a:srgbClr val="334155"/>
                </a:solidFill>
                <a:latin typeface="Inter"/>
              </a:rPr>
              <a:t>One text box for the whole newsroom — Superdesk, driven in plain English.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1168896"/>
            <a:ext cx="149125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" y="3741241"/>
            <a:ext cx="1238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9200" y="3726953"/>
            <a:ext cx="67056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JetBrains Mono"/>
              </a:rPr>
              <a:t>"Create an article with the headline "This is epic" and publish"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793753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57300" y="4765178"/>
            <a:ext cx="42100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Superdesk has a button for everything.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superdesk-sava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is one text box that drives them all.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4793753"/>
            <a:ext cx="21907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43675" y="4765178"/>
            <a:ext cx="41814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You type what you want; an AI agent executes it directly through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Superdesk's real API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5610225"/>
            <a:ext cx="10839450" cy="666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1362075"/>
            <a:ext cx="5324475" cy="895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362075"/>
            <a:ext cx="5324475" cy="895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2447925"/>
            <a:ext cx="5324475" cy="895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2447925"/>
            <a:ext cx="5324475" cy="895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2025" y="5819775"/>
            <a:ext cx="404261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Inter SemiBold"/>
              </a:rPr>
              <a:t>Every software category is moving here.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7375" y="5800725"/>
            <a:ext cx="1752600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158115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00200" y="1595437"/>
            <a:ext cx="25050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PostHog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dashboards "ask your analytics"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158115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15175" y="1595437"/>
            <a:ext cx="3143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Linear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issue forms AI agents you assign work to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266700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00200" y="2681287"/>
            <a:ext cx="30861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Intercom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ticket queues an AI agent that resolves it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667000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15175" y="2681287"/>
            <a:ext cx="2457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GitHub Copilot / Vercel v0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menus &amp; code describe it, get it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325" y="1704975"/>
            <a:ext cx="20955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1300" y="1704975"/>
            <a:ext cx="2095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7750" y="2790825"/>
            <a:ext cx="26670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6062" y="2790825"/>
            <a:ext cx="200025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95550" y="1852612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91475" y="1852612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00325" y="2938462"/>
            <a:ext cx="1333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81975" y="2938462"/>
            <a:ext cx="13335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6275" y="581025"/>
            <a:ext cx="1138142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Inter"/>
              </a:rPr>
              <a:t>Software is collapsing into a single chat box.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1362075"/>
            <a:ext cx="10839450" cy="2028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3676650"/>
            <a:ext cx="3486150" cy="12882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925" y="3676650"/>
            <a:ext cx="3486150" cy="12882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9575" y="3676650"/>
            <a:ext cx="3486150" cy="128825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7375" y="1776412"/>
            <a:ext cx="1428750" cy="523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3325" y="1676400"/>
            <a:ext cx="1466850" cy="723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7375" y="1776412"/>
            <a:ext cx="2781300" cy="523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5875" y="1776412"/>
            <a:ext cx="1428750" cy="523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0537" y="2705100"/>
            <a:ext cx="3590925" cy="3714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38525" y="1952625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62575" y="1952625"/>
            <a:ext cx="1524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01075" y="1952625"/>
            <a:ext cx="152400" cy="1714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086475" y="2514600"/>
            <a:ext cx="19050" cy="190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876675"/>
            <a:ext cx="296037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Acts as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143375"/>
            <a:ext cx="30861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Never more powerful than the logged-in user. Inherits exact Superdesk permissions.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1550" y="3876675"/>
            <a:ext cx="3000375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Human-in-the-loop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2950" y="4143375"/>
            <a:ext cx="30861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Publish, spike, and post actions automatically pause for explicit human approval.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0100" y="3876675"/>
            <a:ext cx="304038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Nothing hardcoded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43375"/>
            <a:ext cx="308610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Reads each instance's required fields at runtime to fit any Superdesk deployment seamlessly.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8662" y="2824162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300" y="3895725"/>
            <a:ext cx="1905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52950" y="3895725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29600" y="3895725"/>
            <a:ext cx="11430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6275" y="581025"/>
            <a:ext cx="1138142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Inter"/>
              </a:rPr>
              <a:t>A natural-language agent wired into Superdesk's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1457325"/>
            <a:ext cx="5305425" cy="304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457325"/>
            <a:ext cx="5305425" cy="304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266950"/>
            <a:ext cx="4676775" cy="514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971800"/>
            <a:ext cx="4676775" cy="514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2266950"/>
            <a:ext cx="4676775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2971800"/>
            <a:ext cx="4676775" cy="514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5" y="3676650"/>
            <a:ext cx="4676775" cy="514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1771650"/>
            <a:ext cx="3048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09700" y="1809750"/>
            <a:ext cx="30403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Content Discovery &amp; Publishing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0625" y="2462212"/>
            <a:ext cx="14287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0625" y="3167062"/>
            <a:ext cx="14287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0625" y="3871912"/>
            <a:ext cx="142875" cy="1238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05350" y="3848100"/>
            <a:ext cx="781050" cy="171450"/>
          </a:xfrm>
          <a:prstGeom prst="rect">
            <a:avLst/>
          </a:prstGeom>
          <a:solidFill>
            <a:srgbClr val="FEE2E2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91B1B"/>
                </a:solidFill>
                <a:latin typeface="JetBrains Mono"/>
              </a:rPr>
              <a:t>GATE PAUSE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4625" y="177165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43725" y="1809750"/>
            <a:ext cx="270033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Planning &amp; Memory Context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4650" y="2462212"/>
            <a:ext cx="1428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4650" y="3167062"/>
            <a:ext cx="1428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4650" y="3871912"/>
            <a:ext cx="142875" cy="1238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6275" y="581025"/>
            <a:ext cx="1138142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Inter"/>
              </a:rPr>
              <a:t>Drive Superdesk &amp; Planning in plain English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1524892"/>
            <a:ext cx="8191500" cy="38080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374" y="1991617"/>
            <a:ext cx="2203251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18244" y="2439292"/>
            <a:ext cx="4155363" cy="56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b="1" sz="4200" i="0" u="none">
                <a:solidFill>
                  <a:srgbClr val="0F172A"/>
                </a:solidFill>
                <a:latin typeface="Inter"/>
              </a:rPr>
              <a:t>superdesk-sava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1275" y="3113633"/>
            <a:ext cx="7029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475569"/>
                </a:solidFill>
                <a:latin typeface="Inter"/>
              </a:rPr>
              <a:t>Plugs directly into your newsroom workflow, just like </a:t>
            </a:r>
            <a:r>
              <a:rPr b="1" sz="1650" i="0" u="none">
                <a:solidFill>
                  <a:srgbClr val="0F172A"/>
                </a:solidFill>
                <a:latin typeface="Inter"/>
              </a:rPr>
              <a:t>superdesk-planning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1875" y="4694783"/>
            <a:ext cx="52578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JetBrains Mono"/>
              </a:rPr>
              <a:t>Note: To be transferred to the official </a:t>
            </a:r>
            <a:r>
              <a:rPr b="1" sz="1050" i="0" u="none">
                <a:solidFill>
                  <a:srgbClr val="64748B"/>
                </a:solidFill>
                <a:latin typeface="JetBrains Mono"/>
              </a:rPr>
              <a:t>superdesk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 GitHub organization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7249" y="2077342"/>
            <a:ext cx="111025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412" y="4094708"/>
            <a:ext cx="2190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52887" y="4085183"/>
            <a:ext cx="44577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JetBrains Mono Medium"/>
              </a:rPr>
              <a:t>github.com/</a:t>
            </a:r>
            <a:r>
              <a:rPr b="0" sz="1500" i="0" u="none">
                <a:solidFill>
                  <a:srgbClr val="38BDF8"/>
                </a:solidFill>
                <a:latin typeface="JetBrains Mono SemiBold"/>
              </a:rPr>
              <a:t>BrianMwangi21/superdesk-sava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2325" y="4713833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